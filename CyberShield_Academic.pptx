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"/>
            <a:ext cx="38100" cy="5852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50852" y="411480"/>
            <a:ext cx="38100" cy="5852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2744"/>
                </a:solidFill>
              </a:rPr>
              <a:t>CyberShield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E50"/>
                </a:solidFill>
              </a:rPr>
              <a:t>Uncertainty-Aware Fraud Detection with Human-in-the-Loop Calibration
for Cybercrime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2377440"/>
            <a:ext cx="137160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A5A6"/>
                </a:solidFill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744"/>
                </a:solidFill>
              </a:rPr>
              <a:t>Abhishek Yadav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Roll No. 230103041    |    Semester VI    |    Project I (CS3201)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A5A6"/>
                </a:solidFill>
              </a:rPr>
              <a:t>Supervised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926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744"/>
                </a:solidFill>
              </a:rPr>
              <a:t>Dr. Salam Michael Singh</a:t>
            </a:r>
          </a:p>
        </p:txBody>
      </p:sp>
      <p:pic>
        <p:nvPicPr>
          <p:cNvPr id="15" name="Picture 14" descr="iiit manip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886200"/>
            <a:ext cx="1417320" cy="1090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" y="629107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Department of Computer Science and Engineering
IIIT Senapati, Manipur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Statement &amp;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5A5A6"/>
                </a:solidFill>
              </a:rPr>
              <a:t>Why existing fraud detection systems are insufficient for India's cybercrime landscape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30352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98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PROBLEM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105156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7373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19072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1.12M+ cybercrime complaints filed in India in 2023 (MHA-NCRP). SMS and WhatsApp remain primary vectors.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33472"/>
            <a:ext cx="105156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Binary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33472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Existing classifiers force a hard decision boundary at P=0.5. There is no mechanism to express model uncertainty or abstain.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47872"/>
            <a:ext cx="105156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566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Concept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47872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Fraudsters continuously evolve language. Static models degrade within weeks without active retraining.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462272"/>
            <a:ext cx="105156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4480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No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62272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Detection alone is insufficient. Victims have no structured, automated path from a flagged message to a formal complaint.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76672"/>
            <a:ext cx="105156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5394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No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376672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Repeat malicious artifacts (URLs, phone numbers) across multiple victims are not correlated by any existing system.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188720"/>
            <a:ext cx="617220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0448" y="12984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RESEARCH GAP MATRIX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1719072"/>
            <a:ext cx="1490472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1737360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1719072"/>
            <a:ext cx="1435608" cy="4572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1737360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SpamAssassin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1719072"/>
            <a:ext cx="1435608" cy="4572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1737360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Deep Spam
(Roy 2020)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61320" y="1719072"/>
            <a:ext cx="1252728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0" y="1737360"/>
            <a:ext cx="12070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CyberShield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2212848"/>
            <a:ext cx="149047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07024" y="2322576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Uncertainty Routing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2212848"/>
            <a:ext cx="1435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7224" y="23225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2212848"/>
            <a:ext cx="1435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61704" y="23225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61320" y="2212848"/>
            <a:ext cx="1252728" cy="576072"/>
          </a:xfrm>
          <a:prstGeom prst="rect">
            <a:avLst/>
          </a:prstGeom>
          <a:solidFill>
            <a:srgbClr val="E8F8F5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16184" y="23225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Yes — 4 Tiers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2825496"/>
            <a:ext cx="1490472" cy="576072"/>
          </a:xfrm>
          <a:prstGeom prst="rect">
            <a:avLst/>
          </a:prstGeom>
          <a:solidFill>
            <a:srgbClr val="F2F4F7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07024" y="2935224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HITL Retraining Loop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2825496"/>
            <a:ext cx="1435608" cy="576072"/>
          </a:xfrm>
          <a:prstGeom prst="rect">
            <a:avLst/>
          </a:prstGeom>
          <a:solidFill>
            <a:srgbClr val="F2F4F7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07224" y="29352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2825496"/>
            <a:ext cx="1435608" cy="576072"/>
          </a:xfrm>
          <a:prstGeom prst="rect">
            <a:avLst/>
          </a:prstGeom>
          <a:solidFill>
            <a:srgbClr val="F2F4F7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61704" y="29352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61320" y="2825496"/>
            <a:ext cx="1252728" cy="576072"/>
          </a:xfrm>
          <a:prstGeom prst="rect">
            <a:avLst/>
          </a:prstGeom>
          <a:solidFill>
            <a:srgbClr val="E8F8F5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16184" y="293522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3438144"/>
            <a:ext cx="149047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07024" y="3547872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Explainable Output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3438144"/>
            <a:ext cx="1435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07224" y="3547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6840" y="3438144"/>
            <a:ext cx="1435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61704" y="3547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61320" y="3438144"/>
            <a:ext cx="1252728" cy="576072"/>
          </a:xfrm>
          <a:prstGeom prst="rect">
            <a:avLst/>
          </a:prstGeom>
          <a:solidFill>
            <a:srgbClr val="E8F8F5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16184" y="35478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Yes — Heatmap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4050792"/>
            <a:ext cx="1490472" cy="576072"/>
          </a:xfrm>
          <a:prstGeom prst="rect">
            <a:avLst/>
          </a:prstGeom>
          <a:solidFill>
            <a:srgbClr val="F2F4F7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07024" y="416052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Auto Complaint Filing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52360" y="4050792"/>
            <a:ext cx="1435608" cy="576072"/>
          </a:xfrm>
          <a:prstGeom prst="rect">
            <a:avLst/>
          </a:prstGeom>
          <a:solidFill>
            <a:srgbClr val="F2F4F7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07224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6840" y="4050792"/>
            <a:ext cx="1435608" cy="576072"/>
          </a:xfrm>
          <a:prstGeom prst="rect">
            <a:avLst/>
          </a:prstGeom>
          <a:solidFill>
            <a:srgbClr val="F2F4F7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61704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61320" y="4050792"/>
            <a:ext cx="1252728" cy="576072"/>
          </a:xfrm>
          <a:prstGeom prst="rect">
            <a:avLst/>
          </a:prstGeom>
          <a:solidFill>
            <a:srgbClr val="E8F8F5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616184" y="4160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Yes — NCRP PDF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60" y="4663440"/>
            <a:ext cx="149047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07024" y="4773168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Velocity Intelligence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52360" y="4663440"/>
            <a:ext cx="1435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07224" y="4773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06840" y="4663440"/>
            <a:ext cx="1435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61704" y="4773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61320" y="4663440"/>
            <a:ext cx="1252728" cy="576072"/>
          </a:xfrm>
          <a:prstGeom prst="rect">
            <a:avLst/>
          </a:prstGeom>
          <a:solidFill>
            <a:srgbClr val="E8F8F5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616184" y="47731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Yes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52160" y="5276088"/>
            <a:ext cx="1490472" cy="576072"/>
          </a:xfrm>
          <a:prstGeom prst="rect">
            <a:avLst/>
          </a:prstGeom>
          <a:solidFill>
            <a:srgbClr val="F2F4F7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07024" y="5385816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Concept Drift Resist.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52360" y="5276088"/>
            <a:ext cx="1435608" cy="576072"/>
          </a:xfrm>
          <a:prstGeom prst="rect">
            <a:avLst/>
          </a:prstGeom>
          <a:solidFill>
            <a:srgbClr val="F2F4F7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07224" y="5385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06840" y="5276088"/>
            <a:ext cx="1435608" cy="576072"/>
          </a:xfrm>
          <a:prstGeom prst="rect">
            <a:avLst/>
          </a:prstGeom>
          <a:solidFill>
            <a:srgbClr val="F2F4F7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61704" y="5385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61320" y="5276088"/>
            <a:ext cx="1252728" cy="576072"/>
          </a:xfrm>
          <a:prstGeom prst="rect">
            <a:avLst/>
          </a:prstGeom>
          <a:solidFill>
            <a:srgbClr val="E8F8F5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616184" y="538581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Yes — HNM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52160" y="5888736"/>
            <a:ext cx="149047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07024" y="5998464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Inference &lt; 500ms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52360" y="5888736"/>
            <a:ext cx="1435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07224" y="5998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06840" y="5888736"/>
            <a:ext cx="1435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61704" y="5998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561320" y="5888736"/>
            <a:ext cx="1252728" cy="576072"/>
          </a:xfrm>
          <a:prstGeom prst="rect">
            <a:avLst/>
          </a:prstGeom>
          <a:solidFill>
            <a:srgbClr val="E8F8F5"/>
          </a:solidFill>
          <a:ln w="635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616184" y="599846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Proposed System — CyberShield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5A5A6"/>
                </a:solidFill>
              </a:rPr>
              <a:t>Architecture, methodology and the unique Human-in-the-Loop retraining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tl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15568"/>
            <a:ext cx="6858000" cy="2926080"/>
          </a:xfrm>
          <a:prstGeom prst="rect">
            <a:avLst/>
          </a:prstGeom>
        </p:spPr>
      </p:pic>
      <p:pic>
        <p:nvPicPr>
          <p:cNvPr id="9" name="Picture 8" descr="threshold_lo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114800"/>
            <a:ext cx="685800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0" y="1115568"/>
            <a:ext cx="4617720" cy="5468112"/>
          </a:xfrm>
          <a:prstGeom prst="rect">
            <a:avLst/>
          </a:prstGeom>
          <a:solidFill>
            <a:srgbClr val="F2F4F7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12070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SYSTEM COMPONENTS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7" y="1600200"/>
            <a:ext cx="54864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2944" y="160020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744"/>
                </a:solidFill>
              </a:rPr>
              <a:t>ML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600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Soft-voting over Logistic Regression (w=0.2),
Calibrated SVM (w=0.5), Naive Bayes (w=0.3)
over 25,000-feature FeatureUnion TF-IDF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4927" y="2606040"/>
            <a:ext cx="54864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260604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744"/>
                </a:solidFill>
              </a:rPr>
              <a:t>4-Tier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606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FRAUD (P&gt;=0.90) | SUSPICIOUS (0.70-0.90)
UNCERTAIN (0.30-0.70) | LEGIT (P&lt;0.30)
UNCERTAIN routed to HITL admin queue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24927" y="3611880"/>
            <a:ext cx="54864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36118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744"/>
                </a:solidFill>
              </a:rPr>
              <a:t>Hard Negative
Mining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6118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UNCERTAIN + admin label -&gt; boundary samples
injected into retraining set (684 samples added)
Model pickles updated offline without downtime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24927" y="4617720"/>
            <a:ext cx="54864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461772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744"/>
                </a:solidFill>
              </a:rPr>
              <a:t>Velocity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46177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Per-submission URL/phone extraction into
velocity_db. MEDIUM&gt;=1, HIGH&gt;=2, CRITICAL&gt;=4
Correlates repeat artifacts across victims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4927" y="5623560"/>
            <a:ext cx="54864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562356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744"/>
                </a:solidFill>
              </a:rPr>
              <a:t>Explainability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56235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LR coefficient weights mapped per token
Word Risk Heatmap rendered per analysis
Fully interpretable — no black-box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Experimental Results &amp;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5A5A6"/>
                </a:solidFill>
              </a:rPr>
              <a:t>Evaluation on frozen test set (N=3,980) — 26,534 labeled samples across 8 datasets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097280"/>
            <a:ext cx="2212848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188720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0392B"/>
                </a:solidFill>
              </a:rPr>
              <a:t>94.85%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719072"/>
            <a:ext cx="2212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5A5A6"/>
                </a:solidFill>
              </a:rPr>
              <a:t>Test Accuracy
(Post-HNM)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8024" y="1097280"/>
            <a:ext cx="2212848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8024" y="1188720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980B9"/>
                </a:solidFill>
              </a:rPr>
              <a:t>0.9899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024" y="1719072"/>
            <a:ext cx="2212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5A5A6"/>
                </a:solidFill>
              </a:rPr>
              <a:t>ROC-AUC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097280"/>
            <a:ext cx="2212848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188720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7AE60"/>
                </a:solidFill>
              </a:rPr>
              <a:t>0.9494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719072"/>
            <a:ext cx="2212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5A5A6"/>
                </a:solidFill>
              </a:rPr>
              <a:t>Fraud 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31736" y="1097280"/>
            <a:ext cx="2212848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1188720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7AE60"/>
                </a:solidFill>
              </a:rPr>
              <a:t>0.9440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6" y="1719072"/>
            <a:ext cx="2212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5A5A6"/>
                </a:solidFill>
              </a:rPr>
              <a:t>Fraud Recall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08592" y="1097280"/>
            <a:ext cx="2212848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1188720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</a:rPr>
              <a:t>&lt;500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1719072"/>
            <a:ext cx="2212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5A5A6"/>
                </a:solidFill>
              </a:rPr>
              <a:t>Inference Latency</a:t>
            </a:r>
          </a:p>
        </p:txBody>
      </p:sp>
      <p:pic>
        <p:nvPicPr>
          <p:cNvPr id="23" name="Picture 22" descr="fig_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359152"/>
            <a:ext cx="4023360" cy="2103120"/>
          </a:xfrm>
          <a:prstGeom prst="rect">
            <a:avLst/>
          </a:prstGeom>
        </p:spPr>
      </p:pic>
      <p:pic>
        <p:nvPicPr>
          <p:cNvPr id="24" name="Picture 23" descr="comparis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359152"/>
            <a:ext cx="4023360" cy="2103120"/>
          </a:xfrm>
          <a:prstGeom prst="rect">
            <a:avLst/>
          </a:prstGeom>
        </p:spPr>
      </p:pic>
      <p:pic>
        <p:nvPicPr>
          <p:cNvPr id="25" name="Picture 24" descr="velocity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2359152"/>
            <a:ext cx="3474720" cy="21031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01168" y="4617720"/>
            <a:ext cx="11750040" cy="1993392"/>
          </a:xfrm>
          <a:prstGeom prst="rect">
            <a:avLst/>
          </a:prstGeom>
          <a:solidFill>
            <a:srgbClr val="F2F4F7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663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</a:rPr>
              <a:t>Hard Negative Mining — Ablation Study  (pre-HNM vs post-HNM on frozen test set)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29200"/>
            <a:ext cx="1847088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056632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5029200"/>
            <a:ext cx="1152144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5056632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Pre-HNM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5029200"/>
            <a:ext cx="1152144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5056632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Post-HNM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5029200"/>
            <a:ext cx="877824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5056632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Delta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5029200"/>
            <a:ext cx="5934456" cy="347472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5056632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394960"/>
            <a:ext cx="1847088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431536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Accuracy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0280" y="5394960"/>
            <a:ext cx="115214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5431536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0.9482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5394960"/>
            <a:ext cx="115214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5431536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0.9485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5394960"/>
            <a:ext cx="87782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5431536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+0.03%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5394960"/>
            <a:ext cx="5934456" cy="274320"/>
          </a:xfrm>
          <a:prstGeom prst="rect">
            <a:avLst/>
          </a:prstGeom>
          <a:solidFill>
            <a:srgbClr val="E8F8F5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5431536"/>
            <a:ext cx="5897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Marginal shift; HNM targets boundary, not bulk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696712"/>
            <a:ext cx="1847088" cy="274320"/>
          </a:xfrm>
          <a:prstGeom prst="rect">
            <a:avLst/>
          </a:prstGeom>
          <a:solidFill>
            <a:srgbClr val="F2F4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5733288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Fraud Recall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0280" y="5696712"/>
            <a:ext cx="1152144" cy="274320"/>
          </a:xfrm>
          <a:prstGeom prst="rect">
            <a:avLst/>
          </a:prstGeom>
          <a:solidFill>
            <a:srgbClr val="F2F4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0" y="5733288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0.9419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20440" y="5696712"/>
            <a:ext cx="1152144" cy="274320"/>
          </a:xfrm>
          <a:prstGeom prst="rect">
            <a:avLst/>
          </a:prstGeom>
          <a:solidFill>
            <a:srgbClr val="F2F4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60" y="5733288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0.9440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00600" y="5696712"/>
            <a:ext cx="877824" cy="274320"/>
          </a:xfrm>
          <a:prstGeom prst="rect">
            <a:avLst/>
          </a:prstGeom>
          <a:solidFill>
            <a:srgbClr val="F2F4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46320" y="5733288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+0.21%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06440" y="5696712"/>
            <a:ext cx="5934456" cy="274320"/>
          </a:xfrm>
          <a:prstGeom prst="rect">
            <a:avLst/>
          </a:prstGeom>
          <a:solidFill>
            <a:srgbClr val="E8F8F5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52160" y="5733288"/>
            <a:ext cx="5897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Key gain — fewer missed frauds post-HNM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998464"/>
            <a:ext cx="1847088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6035040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Fraud Precision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40280" y="5998464"/>
            <a:ext cx="115214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0" y="6035040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0.9508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20440" y="5998464"/>
            <a:ext cx="115214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66160" y="6035040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0.9494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00600" y="5998464"/>
            <a:ext cx="87782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46320" y="6035040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-0.14%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06440" y="5998464"/>
            <a:ext cx="5934456" cy="274320"/>
          </a:xfrm>
          <a:prstGeom prst="rect">
            <a:avLst/>
          </a:prstGeom>
          <a:solidFill>
            <a:srgbClr val="FFF5F5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52160" y="6035040"/>
            <a:ext cx="5897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Acceptable trade-off for higher recall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6300216"/>
            <a:ext cx="1847088" cy="274320"/>
          </a:xfrm>
          <a:prstGeom prst="rect">
            <a:avLst/>
          </a:prstGeom>
          <a:solidFill>
            <a:srgbClr val="F2F4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6336792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ROC-AUC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40280" y="6300216"/>
            <a:ext cx="1152144" cy="274320"/>
          </a:xfrm>
          <a:prstGeom prst="rect">
            <a:avLst/>
          </a:prstGeom>
          <a:solidFill>
            <a:srgbClr val="F2F4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86000" y="6336792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0.9893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20440" y="6300216"/>
            <a:ext cx="1152144" cy="274320"/>
          </a:xfrm>
          <a:prstGeom prst="rect">
            <a:avLst/>
          </a:prstGeom>
          <a:solidFill>
            <a:srgbClr val="F2F4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66160" y="6336792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0.9899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00600" y="6300216"/>
            <a:ext cx="877824" cy="274320"/>
          </a:xfrm>
          <a:prstGeom prst="rect">
            <a:avLst/>
          </a:prstGeom>
          <a:solidFill>
            <a:srgbClr val="F2F4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46320" y="6336792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+0.06pp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06440" y="6300216"/>
            <a:ext cx="5934456" cy="274320"/>
          </a:xfrm>
          <a:prstGeom prst="rect">
            <a:avLst/>
          </a:prstGeom>
          <a:solidFill>
            <a:srgbClr val="E8F8F5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52160" y="6336792"/>
            <a:ext cx="5897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Improved ranking across all thresholds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5A5A6"/>
                </a:solidFill>
              </a:rPr>
              <a:t>Summary of contributions and planned extensions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76072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RESEARCH CONTRIBUTIONS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54864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744"/>
                </a:solidFill>
              </a:rPr>
              <a:t>Novel 4-Tier Uncertainty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3911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Replaces binary detection with probabilistic risk stratification. Uncertainty-aware routing is absent in all surveyed SMS fraud detection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70048"/>
            <a:ext cx="54864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700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744"/>
                </a:solidFill>
              </a:rPr>
              <a:t>Human-in-the-Loop Active Retraining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UNCERTAIN predictions trigger a Hard Negative Mining pipeline that continuously re-calibrates the model against concept drift without external labeling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48456"/>
            <a:ext cx="54864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484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744"/>
                </a:solidFill>
              </a:rPr>
              <a:t>Automated NCRP Complaint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9592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First system to auto-produce a pre-filled NCRP-compliant PDF with extracted IoCs, probability score and complaint ID — directly bridging detection and law enforcement.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26864"/>
            <a:ext cx="54864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26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744"/>
                </a:solidFill>
              </a:rPr>
              <a:t>Velocity Intelligence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74336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Real-time cross-victim artifact correlation assigns CRITICAL/HIGH/MEDIUM threat tiers to repeat malicious URLs and phone numbers — a capability absent in prior 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605272"/>
            <a:ext cx="54864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052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744"/>
                </a:solidFill>
              </a:rPr>
              <a:t>Explainable AI via Word Risk Heatmap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5274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LR coefficient-based token attribution makes each prediction interpretable to non-technical citizens and verifiable by administrators.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188720"/>
            <a:ext cx="5760720" cy="2377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RESULTS AT A GLANCE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69164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5A5A6"/>
                </a:solidFill>
              </a:rPr>
              <a:t>Test-Set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69164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</a:rPr>
              <a:t>94.85%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01168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5A5A6"/>
                </a:solidFill>
              </a:rPr>
              <a:t>ROC-AUC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01168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</a:rPr>
              <a:t>0.9899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33172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5A5A6"/>
                </a:solidFill>
              </a:rPr>
              <a:t>Training Corpus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33172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</a:rPr>
              <a:t>26,534 samples / 8 datasets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65176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5A5A6"/>
                </a:solidFill>
              </a:rPr>
              <a:t>Frozen Test 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65176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</a:rPr>
              <a:t>3,980 instances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97180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5A5A6"/>
                </a:solidFill>
              </a:rPr>
              <a:t>Inference Latency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97180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</a:rPr>
              <a:t>&lt; 500ms on commodity hardware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29184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5A5A6"/>
                </a:solidFill>
              </a:rPr>
              <a:t>HNM Recall Gain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29184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</a:rPr>
              <a:t>+0.21pp fraud recall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703320"/>
            <a:ext cx="5760720" cy="2926080"/>
          </a:xfrm>
          <a:prstGeom prst="rect">
            <a:avLst/>
          </a:prstGeom>
          <a:solidFill>
            <a:srgbClr val="F2F4F7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FUTURE SCOPE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4242816"/>
            <a:ext cx="658368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4242816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Near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2592" y="418795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Direct REST API integration with NCRP portal — eliminate manual PDF upload step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4718304"/>
            <a:ext cx="658368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4718304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Near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66344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OTP and QR-code artifact extraction to extend IoC coverage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91072" y="5193792"/>
            <a:ext cx="658368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519379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22592" y="513892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Multilingual NLP pipeline — Devanagari, Meitei Mayek script support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91072" y="5669280"/>
            <a:ext cx="658368" cy="21945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5669280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561441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Transformer-based embeddings (BERT/IndicBERT) for deeper semantic modeling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91072" y="6144768"/>
            <a:ext cx="658368" cy="21945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91072" y="614476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2592" y="608990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Federated learning across state cyber cells preserving victim data privacy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07008"/>
            <a:ext cx="5486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[1]  Almeida, T.A., Hidalgo, J.M.G., Yamakami, A. (2011). Contributions to the study of SMS spam filtering: new collection and results. ACM DocEng, pp. 259-262.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37360"/>
            <a:ext cx="5486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2763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[2]  Settles, B. (2012). Active Learning. Synthesis Lectures on Artificial Intelligence and ML. Morgan &amp; Claypool Publishers.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67712"/>
            <a:ext cx="5486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57984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[3]  Holzinger, A. (2016). Interactive machine learning for health informatics: when do we need the human-in-the-loop? Brain Informatics, 3(2), 119-131.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798064"/>
            <a:ext cx="5486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88336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[4]  Chawla, N.V., Bowyer, K.W., Hall, L.O., Kegelmeyer, W.P. (2002). SMOTE: Synthetic Minority Over-sampling Technique. JAIR, 16, 321-357.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328416"/>
            <a:ext cx="5486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18688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[5]  Roy, S., et al. (2020). A Deep Learning based Artificial Intelligence Model for SMS Spam Detection. IJEAT, 9(3).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58768"/>
            <a:ext cx="5486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490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[6]  Pedregosa, F. et al. (2011). Scikit-learn: Machine learning in Python. Journal of Machine Learning Research, 12, 2825-2830.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389120"/>
            <a:ext cx="5486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793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[7]  Purkait, S. (2014). Phishing counter measures and their effectiveness. Information Management &amp; Computer Security, 22(5), 382-420.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919472"/>
            <a:ext cx="5486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09744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[8]  Ministry of Home Affairs, Govt. of India (2023). Annual Report — National Cybercrime Reporting Portal (NCRP) Statistics 2023.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449824"/>
            <a:ext cx="5486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340096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[9]  Platt, J. (1999). Probabilistic outputs for Support Vector Machines. Advances in Large Margin Classifiers, MIT Press.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980176"/>
            <a:ext cx="5486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870448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[10] National Crime Records Bureau (2023). Crime in India 2023 — Chapter 9: Cyber Crimes. NCRB, New Delhi.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