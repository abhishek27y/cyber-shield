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2029968"/>
            <a:ext cx="7589520" cy="3175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2121408"/>
            <a:ext cx="7589520" cy="127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E3A5F"/>
                </a:solidFill>
                <a:latin typeface="Segoe UI"/>
              </a:rPr>
              <a:t>CyberShield: Uncertainty-Aware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E8B7B"/>
                </a:solidFill>
                <a:latin typeface="Segoe UI"/>
              </a:rPr>
              <a:t>with Human-in-the-Loop Calibration for Cybercrime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6B7280"/>
                </a:solidFill>
                <a:latin typeface="Segoe UI"/>
              </a:rPr>
              <a:t>A report submitted for the course Project – I (CS3201)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Segoe UI"/>
              </a:rPr>
              <a:t>Submitted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Segoe UI"/>
              </a:rPr>
              <a:t>ABHISHEK YADAV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0906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Segoe UI"/>
              </a:rPr>
              <a:t>Roll No. 230103041  |  Semester VI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331720"/>
            <a:ext cx="19050" cy="1188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331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Segoe UI"/>
              </a:rPr>
              <a:t>Supervised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Segoe UI"/>
              </a:rPr>
              <a:t>Dr. Salam Michael Singh</a:t>
            </a:r>
          </a:p>
        </p:txBody>
      </p:sp>
      <p:pic>
        <p:nvPicPr>
          <p:cNvPr id="16" name="Picture 15" descr="iiit manip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611880"/>
            <a:ext cx="2011680" cy="15480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7280"/>
                </a:solidFill>
                <a:latin typeface="Segoe UI"/>
              </a:rPr>
              <a:t>Department of Computer Science and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7280"/>
                </a:solidFill>
                <a:latin typeface="Segoe UI"/>
              </a:rPr>
              <a:t>Indian Institute of Information Technology Senapati, Manipur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B7B"/>
                </a:solidFill>
                <a:latin typeface="Segoe UI"/>
              </a:rPr>
              <a:t>April,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91440" cy="54864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Segoe UI"/>
              </a:rPr>
              <a:t>Introduction, Objective &amp;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11521440" cy="2540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5303520" cy="5669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Segoe UI"/>
              </a:rPr>
              <a:t>PROBLEM DEFINITION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5361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904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Segoe UI"/>
              </a:rPr>
              <a:t>Limitation of Binary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1907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Standard ML forces binary buckets (Fraud vs. Legit), failing on ambiguous phrasing, leading to high false-positive rates.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86207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16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Segoe UI"/>
              </a:rPr>
              <a:t>Semantic Evading &amp; Concept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4495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Attackers leverage urgency and financial requests, constantly shifting vocabulary to evade static signature detection.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418795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422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Segoe UI"/>
              </a:rPr>
              <a:t>Fragmented Reporting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7083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Victims lack automated tools to extract Indicators of Compromise (IoCs) and format actionable legal complaints for the NCRP.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914400"/>
            <a:ext cx="6126480" cy="5669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98755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Segoe UI"/>
              </a:rPr>
              <a:t>CYBERSHIELD: PRIMARY CONTRIBUTIONS</a:t>
            </a:r>
          </a:p>
        </p:txBody>
      </p:sp>
      <p:sp>
        <p:nvSpPr>
          <p:cNvPr id="19" name="Oval 18"/>
          <p:cNvSpPr/>
          <p:nvPr/>
        </p:nvSpPr>
        <p:spPr>
          <a:xfrm>
            <a:off x="5897880" y="1517904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44475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Segoe UI"/>
              </a:rPr>
              <a:t>Uncertainty-Aware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67335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Probability-bounded risk strata (FRAUD, SUSPICIOUS, UNCERTAIN, LEGIT) replacing forced binary predictions.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5897880" y="238658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1343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Segoe UI"/>
              </a:rPr>
              <a:t>Human-in-the-Loop Calibration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54203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Administrative routing for uncertain data (0.30 ≤ P &lt; 0.70) coupled with Hard Negative Mining for dynamic recalibration.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5897880" y="3255264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18211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Segoe UI"/>
              </a:rPr>
              <a:t>Token-Level Explainability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41071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Word Risk Heatmaps utilizing model coefficient weights to visually highlight specific semantic tokens driving predictions.</a:t>
            </a:r>
          </a:p>
        </p:txBody>
      </p:sp>
      <p:sp>
        <p:nvSpPr>
          <p:cNvPr id="28" name="Oval 27"/>
          <p:cNvSpPr/>
          <p:nvPr/>
        </p:nvSpPr>
        <p:spPr>
          <a:xfrm>
            <a:off x="5897880" y="4123944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05079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Segoe UI"/>
              </a:rPr>
              <a:t>Automated NCRP Adjudication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27939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One-click generation of NCRP-compliant PDFs containing extracted IoCs, ready for portal submission.</a:t>
            </a:r>
          </a:p>
        </p:txBody>
      </p:sp>
      <p:sp>
        <p:nvSpPr>
          <p:cNvPr id="31" name="Oval 30"/>
          <p:cNvSpPr/>
          <p:nvPr/>
        </p:nvSpPr>
        <p:spPr>
          <a:xfrm>
            <a:off x="5897880" y="4992624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91947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Segoe UI"/>
              </a:rPr>
              <a:t>Velocity Intelligence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14807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Database tracking the frequency velocity of malicious URLs and phone numbers to identify organized threat vectors.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91440" cy="54864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Segoe UI"/>
              </a:rPr>
              <a:t>Background / Existing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11521440" cy="2540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960120"/>
            <a:ext cx="2194560" cy="43891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5156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Existing Work /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960120"/>
            <a:ext cx="2377440" cy="43891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051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Approach 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960120"/>
            <a:ext cx="2926080" cy="43891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0515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Primary Limitations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960120"/>
            <a:ext cx="338328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0515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Proposed Solution (CyberShield)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435608"/>
            <a:ext cx="2194560" cy="8229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572768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SpamAssassin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1435608"/>
            <a:ext cx="2377440" cy="8229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572768"/>
            <a:ext cx="2286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Rule-based filtering with
Bayesian Naive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1435608"/>
            <a:ext cx="2926080" cy="8229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1572768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444"/>
                </a:solidFill>
                <a:latin typeface="Segoe UI"/>
              </a:rPr>
              <a:t>Static rules become obsolete rapidly
against novel semantic phrasing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435608"/>
            <a:ext cx="3383280" cy="8229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572768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Segoe UI"/>
              </a:rPr>
              <a:t>Ensemble architecture with HNM
retraining for concept drift resistance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2322576"/>
            <a:ext cx="2194560" cy="82296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459736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SMS Spam Collection Baseline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2322576"/>
            <a:ext cx="2377440" cy="82296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2459736"/>
            <a:ext cx="2286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Single Naive Bayes on
TF-IDF feature vectors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80" y="2322576"/>
            <a:ext cx="2926080" cy="82296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2459736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444"/>
                </a:solidFill>
                <a:latin typeface="Segoe UI"/>
              </a:rPr>
              <a:t>Forces binary outcomes;
lacks uncertainty acknowledgment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2322576"/>
            <a:ext cx="3383280" cy="82296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459736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Segoe UI"/>
              </a:rPr>
              <a:t>4-tier probabilistic routing
based on confidence thresholds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209544"/>
            <a:ext cx="2194560" cy="82296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346704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MobiFish (Purkait, 2014)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51760" y="3209544"/>
            <a:ext cx="2377440" cy="82296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3346704"/>
            <a:ext cx="2286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URL-specific heuristics
for smishing detection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3209544"/>
            <a:ext cx="2926080" cy="82296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3346704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444"/>
                </a:solidFill>
                <a:latin typeface="Segoe UI"/>
              </a:rPr>
              <a:t>Focuses solely on URLs, ignoring
persuasive natural language text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3209544"/>
            <a:ext cx="3383280" cy="82296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3346704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Segoe UI"/>
              </a:rPr>
              <a:t>FeatureUnion of NLP tokens and
lexical artifact extraction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4096512"/>
            <a:ext cx="2194560" cy="82296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233672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Deep Spam (Roy et al., 2020)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51760" y="4096512"/>
            <a:ext cx="2377440" cy="82296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0" y="4233672"/>
            <a:ext cx="2286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LSTM on word embeddings
(Deep Learning)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4096512"/>
            <a:ext cx="2926080" cy="82296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0" y="4233672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444"/>
                </a:solidFill>
                <a:latin typeface="Segoe UI"/>
              </a:rPr>
              <a:t>Opaque "black-box" model; no
citizen-facing explainability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4096512"/>
            <a:ext cx="3383280" cy="822960"/>
          </a:xfrm>
          <a:prstGeom prst="round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4233672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Segoe UI"/>
              </a:rPr>
              <a:t>Word Risk Heatmap generation
using linear coefficient weights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4983480"/>
            <a:ext cx="2194560" cy="822960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120640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NCRP Portal (Govt. of India)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51760" y="4983480"/>
            <a:ext cx="2377440" cy="822960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0" y="5120640"/>
            <a:ext cx="2286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Manual, unguided complaint
entry by the victim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12080" y="4983480"/>
            <a:ext cx="2926080" cy="822960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0" y="5120640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444"/>
                </a:solidFill>
                <a:latin typeface="Segoe UI"/>
              </a:rPr>
              <a:t>High friction workflow; users struggle
to identify technical IoCs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21040" y="4983480"/>
            <a:ext cx="3383280" cy="822960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5120640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Segoe UI"/>
              </a:rPr>
              <a:t>Automated pre-filled PDF generation
with extracted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91440" cy="54864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Segoe UI"/>
              </a:rPr>
              <a:t>Proposed System /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11521440" cy="2540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583680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40880" y="914400"/>
            <a:ext cx="4846320" cy="5303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9875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Segoe UI"/>
              </a:rPr>
              <a:t>SYSTEM DESIGN &amp; TOOLS</a:t>
            </a:r>
          </a:p>
        </p:txBody>
      </p:sp>
      <p:sp>
        <p:nvSpPr>
          <p:cNvPr id="9" name="Oval 8"/>
          <p:cNvSpPr/>
          <p:nvPr/>
        </p:nvSpPr>
        <p:spPr>
          <a:xfrm>
            <a:off x="7178040" y="1472184"/>
            <a:ext cx="137160" cy="1371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417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Segoe UI"/>
              </a:rPr>
              <a:t>Text Vectorization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6459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FeatureUnion combining word n-grams (1,2) and char n-grams (2,5) into a 25,000-dimensional TF-IDF matrix.</a:t>
            </a:r>
          </a:p>
        </p:txBody>
      </p:sp>
      <p:sp>
        <p:nvSpPr>
          <p:cNvPr id="12" name="Oval 11"/>
          <p:cNvSpPr/>
          <p:nvPr/>
        </p:nvSpPr>
        <p:spPr>
          <a:xfrm>
            <a:off x="7178040" y="2432304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377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Segoe UI"/>
              </a:rPr>
              <a:t>Classification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6060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Mathematical ensemble of Logistic Regression, Support Vector Machines (Platt Scaled), and Naive Bayes.</a:t>
            </a:r>
          </a:p>
        </p:txBody>
      </p:sp>
      <p:sp>
        <p:nvSpPr>
          <p:cNvPr id="15" name="Oval 14"/>
          <p:cNvSpPr/>
          <p:nvPr/>
        </p:nvSpPr>
        <p:spPr>
          <a:xfrm>
            <a:off x="7178040" y="339242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337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Segoe UI"/>
              </a:rPr>
              <a:t>Threshold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5661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P ≥ 0.90 (FRAUD): Auto PDF
0.30 ≤ P &lt; 0.70 (UNCERTAIN): HITL Queue
P &lt; 0.30 (LEGIT): Cleared</a:t>
            </a:r>
          </a:p>
        </p:txBody>
      </p:sp>
      <p:sp>
        <p:nvSpPr>
          <p:cNvPr id="18" name="Oval 17"/>
          <p:cNvSpPr/>
          <p:nvPr/>
        </p:nvSpPr>
        <p:spPr>
          <a:xfrm>
            <a:off x="7178040" y="4352544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4297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Segoe UI"/>
              </a:rPr>
              <a:t>Tech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5262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Python 3.11, Flask, Scikit-Learn, SQLite, ReportLab.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5029200"/>
            <a:ext cx="4846320" cy="1905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Segoe UI"/>
              </a:rPr>
              <a:t>PROCESS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5349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Input → NLP Preprocessing → TF-IDF Transformation → Ensemble Scoring → Threshold Evaluation → Velocity Update → Output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91440" cy="54864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Segoe UI"/>
              </a:rPr>
              <a:t>Result &amp;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11521440" cy="2540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2788920" cy="9144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6012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  <a:latin typeface="Segoe UI"/>
              </a:rPr>
              <a:t>94.85%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Segoe UI"/>
              </a:rPr>
              <a:t>Test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914400"/>
            <a:ext cx="278892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96012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  <a:latin typeface="Segoe UI"/>
              </a:rPr>
              <a:t>0.9899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4173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Segoe UI"/>
              </a:rPr>
              <a:t>ROC-AUC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914400"/>
            <a:ext cx="2788920" cy="9144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96012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5CF6"/>
                </a:solidFill>
                <a:latin typeface="Segoe UI"/>
              </a:rPr>
              <a:t>26,534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4173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Segoe UI"/>
              </a:rPr>
              <a:t>Labeled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914400"/>
            <a:ext cx="2788920" cy="9144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96012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F4444"/>
                </a:solidFill>
                <a:latin typeface="Segoe UI"/>
              </a:rPr>
              <a:t>3,980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4173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Segoe UI"/>
              </a:rPr>
              <a:t>Frozen Test 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1920240"/>
            <a:ext cx="4206240" cy="43891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9659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Segoe UI"/>
              </a:rPr>
              <a:t>Hard Negative Mining (Ablation)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2331720"/>
            <a:ext cx="1380744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377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Metric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83080" y="2331720"/>
            <a:ext cx="768096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83080" y="237744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Pre-HNM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24328" y="2331720"/>
            <a:ext cx="877824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24328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Post-HNM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75304" y="2331720"/>
            <a:ext cx="768096" cy="320040"/>
          </a:xfrm>
          <a:prstGeom prst="round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4" y="237744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Delta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2697480"/>
            <a:ext cx="1380744" cy="5943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834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Accuracy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83080" y="2697480"/>
            <a:ext cx="768096" cy="5943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83080" y="2834640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0.9482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24328" y="2697480"/>
            <a:ext cx="877824" cy="5943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24328" y="2834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0.9485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75304" y="2697480"/>
            <a:ext cx="768096" cy="5943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75304" y="2834640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Segoe UI"/>
              </a:rPr>
              <a:t>+0.0003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3337560"/>
            <a:ext cx="138074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47472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Precision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83080" y="3337560"/>
            <a:ext cx="768096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83080" y="3474720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0.9508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24328" y="3337560"/>
            <a:ext cx="877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24328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0.9494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75304" y="3337560"/>
            <a:ext cx="768096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75304" y="3474720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Segoe UI"/>
              </a:rPr>
              <a:t>-0.0014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3977640"/>
            <a:ext cx="1380744" cy="5943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1148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Recall(Fraud)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83080" y="3977640"/>
            <a:ext cx="768096" cy="5943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83080" y="4114800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0.9419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24328" y="3977640"/>
            <a:ext cx="877824" cy="5943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24328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0.9440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75304" y="3977640"/>
            <a:ext cx="768096" cy="5943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75304" y="4114800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Segoe UI"/>
              </a:rPr>
              <a:t>+0.0021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0040" y="4617720"/>
            <a:ext cx="138074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47548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Macro F1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83080" y="4617720"/>
            <a:ext cx="768096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83080" y="4754880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0.9482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24328" y="4617720"/>
            <a:ext cx="877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24328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0.9484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75304" y="4617720"/>
            <a:ext cx="768096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75304" y="4754880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Segoe UI"/>
              </a:rPr>
              <a:t>+0.0002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0040" y="5257800"/>
            <a:ext cx="1380744" cy="5943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394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ROC-AUC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783080" y="5257800"/>
            <a:ext cx="768096" cy="5943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83080" y="5394960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0.9893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24328" y="5257800"/>
            <a:ext cx="877824" cy="5943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24328" y="5394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0.9899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575304" y="5257800"/>
            <a:ext cx="768096" cy="59436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75304" y="5394960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Segoe UI"/>
              </a:rPr>
              <a:t>+0.0006</a:t>
            </a:r>
          </a:p>
        </p:txBody>
      </p:sp>
      <p:pic>
        <p:nvPicPr>
          <p:cNvPr id="68" name="Picture 67" descr="fig_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11680"/>
            <a:ext cx="3657600" cy="2057400"/>
          </a:xfrm>
          <a:prstGeom prst="rect">
            <a:avLst/>
          </a:prstGeom>
        </p:spPr>
      </p:pic>
      <p:pic>
        <p:nvPicPr>
          <p:cNvPr id="69" name="Picture 68" descr="fig_threshold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11680"/>
            <a:ext cx="3566160" cy="2057400"/>
          </a:xfrm>
          <a:prstGeom prst="rect">
            <a:avLst/>
          </a:prstGeom>
        </p:spPr>
      </p:pic>
      <p:pic>
        <p:nvPicPr>
          <p:cNvPr id="70" name="Picture 69" descr="fig_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06240"/>
            <a:ext cx="73152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91440" cy="54864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Segoe UI"/>
              </a:rPr>
              <a:t>Conclusion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11521440" cy="2540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6858000" cy="5394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Segoe UI"/>
              </a:rPr>
              <a:t>SUMMARY OF WORK DONE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517904"/>
            <a:ext cx="109728" cy="1097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Segoe UI"/>
              </a:rPr>
              <a:t>Mathematical Efficacy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The calibrated ensemble over a 25,000-feature TF-IDF matrix achieved 94.85% test-set accuracy and 0.9899 ROC-AUC.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478024"/>
            <a:ext cx="109728" cy="1097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Segoe UI"/>
              </a:rPr>
              <a:t>System Safety via Uncertainty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The wide UNCERTAIN band (0.30 ≤ P &lt; 0.70) acts as a deliberate safety mechanism against catastrophic false negatives, proving that acknowledging uncertainty enhances, rather than weakens, AI safety in high-stakes environments.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438144"/>
            <a:ext cx="109728" cy="1097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Segoe UI"/>
              </a:rPr>
              <a:t>Bridging the Intelligence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By intertwining natural language semantic analysis with lexical Velocity Tracking and automated NCRP PDF generation, the project successfully bridges the gap between raw ML predictions and actionable law-enforcement intelligence.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398264"/>
            <a:ext cx="109728" cy="1097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Segoe UI"/>
              </a:rPr>
              <a:t>Operational 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The system achieves end-to-end inference latency under 500ms on commodity hardware, satisfying all non-functional constraints.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914400"/>
            <a:ext cx="4572000" cy="53949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1005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Segoe UI"/>
              </a:rPr>
              <a:t>FUTURE SCOPE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463040"/>
            <a:ext cx="100584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4447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Near-Term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1463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Direct REST API Integration with NCRP to eliminate manual PDF upload requirements.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2240280"/>
            <a:ext cx="100584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22219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Near-Term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2402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Expansion of Artifact Extraction to include OTP/QR Code payload heuristics.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3017520"/>
            <a:ext cx="1005840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2999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Mid-Term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0175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Implementation of a Multilingual NLP pipeline (e.g., Devanagari, Meitei Mayek).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3794760"/>
            <a:ext cx="1005840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37764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Mid-Term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794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Integration of Transformer-based semantic embeddings (e.g., BERT/RoBERTa).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4572000"/>
            <a:ext cx="1005840" cy="25603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45537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Long-Term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572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Deployment of Federated Learning architectures across state cyber-cells to preserve privacy.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91440" cy="54864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  <a:latin typeface="Segoe UI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749808"/>
            <a:ext cx="11521440" cy="25400"/>
          </a:xfrm>
          <a:prstGeom prst="rect">
            <a:avLst/>
          </a:prstGeom>
          <a:solidFill>
            <a:srgbClr val="2E8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932688"/>
            <a:ext cx="1152144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[1] Almeida, T.A., Hidalgo, J.M.G., &amp; Yamakami, A. (2011). Contributions to the study of SMS spam filtering. ACM DocEng, 259-262.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11521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[2] Settles, B. (2012). Active Learning. Synthesis Lectures on AI and Machine Learning. Morgan &amp; Claypool.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12848"/>
            <a:ext cx="1152144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31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[3] Holzinger, A. (2016). Interactive machine learning for health informatics. Brain Informatics, 3(2), 119-131.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852928"/>
            <a:ext cx="11521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971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[4] Chawla, N.V. et al. (2002). SMOTE: Synthetic Minority Over-sampling Technique. JAIR, 16, 321-357.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493008"/>
            <a:ext cx="1152144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611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[5] Roy, S. et al. (2020). A Deep Learning based AI Model for SMS Spam Detection. IJEAT, 9(3).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133088"/>
            <a:ext cx="11521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251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[6] Pedregosa, F. et al. (2011). Scikit-learn: Machine Learning in Python. JMLR, 12, 2825-2830.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773168"/>
            <a:ext cx="1152144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892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[7] Purkait, S. (2014). Phishing counter measures and their effectiveness. Info. Mgmt. &amp; Comp. Security, 22(5).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5413248"/>
            <a:ext cx="11521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532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[8] Ministry of Home Affairs, Govt. of India (2023). Annual Report on Cybercrime - NCRP Statistics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